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34">
          <p15:clr>
            <a:srgbClr val="747775"/>
          </p15:clr>
        </p15:guide>
        <p15:guide id="2" orient="horz" pos="127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om Keaney" initials="" lastIdx="2" clrIdx="0"/>
  <p:cmAuthor id="1" name="Margaux Bieuville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38"/>
      </p:cViewPr>
      <p:guideLst>
        <p:guide orient="horz" pos="1834"/>
        <p:guide orient="horz" pos="127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05-20T18:59:14.679" idx="1">
    <p:pos x="196" y="443"/>
    <p:text>I thought this must be a french word but apparently it's also valid in english. The more you know...</p:text>
  </p:cm>
  <p:cm authorId="1" dt="2024-05-20T18:59:14.679" idx="1">
    <p:pos x="196" y="443"/>
    <p:text>Am I a tad proud? 
Yes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05-20T18:58:17.384" idx="2">
    <p:pos x="196" y="443"/>
    <p:text>Not four?</p:text>
  </p:cm>
  <p:cm authorId="1" dt="2024-05-20T18:58:17.384" idx="2">
    <p:pos x="196" y="443"/>
    <p:text>uppsala!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db877e998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db877e998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db8992151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db8992151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b8992151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db8992151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02d054380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02d054380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Hot topics in eco evo : give you the biological base knowledge to i) present papers and ii) start your project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db89921517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db89921517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caaa36be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dcaaa36be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02d1d6ba5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02d1d6ba5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bb227c1c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dbb227c1c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bb227c1c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dbb227c1c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caaa36be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dcaaa36be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dcaaa36be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dcaaa36be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b89921517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db89921517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dbb227c1c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dbb227c1c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dcaaa36be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dcaaa36beb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gs.uni-mainz.de/fb10-biologie-eng/master-evolutionary-biology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oodle.uni-mainz.de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cyIXzeqH0IhyS1j1XzoguxFOBoO1-3Bh1KHpLOEUUBeB6dwQ/viewfor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ocs.google.com/forms/d/e/1FAIpQLScyIXzeqH0IhyS1j1XzoguxFOBoO1-3Bh1KHpLOEUUBeB6dwQ/viewform?usp=sharing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en2meet.com/?25006472-lPif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a9FvCgZx087mGW5E3PheeozVj0XpqI6b7SgeQ9Eu6Tw/edit?usp=sharin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comments" Target="../comments/commen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Introductory session: Theoretical modelling in ecology and evolution</a:t>
            </a:r>
            <a:endParaRPr sz="3600"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Droid Sans"/>
                <a:ea typeface="Droid Sans"/>
                <a:cs typeface="Droid Sans"/>
                <a:sym typeface="Droid Sans"/>
              </a:rPr>
              <a:t>May, 21st</a:t>
            </a:r>
            <a:endParaRPr sz="2400"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Droid Sans"/>
                <a:ea typeface="Droid Sans"/>
                <a:cs typeface="Droid Sans"/>
                <a:sym typeface="Droid Sans"/>
              </a:rPr>
              <a:t>Margaux Bieuville, Tom Keaney, Victor Ronget, Roman Zug</a:t>
            </a:r>
            <a:endParaRPr sz="2400"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131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Your instructors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809200"/>
            <a:ext cx="1113520" cy="148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8178" y="809200"/>
            <a:ext cx="1767497" cy="148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8850" y="809200"/>
            <a:ext cx="1484700" cy="148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20810" y="809200"/>
            <a:ext cx="1311515" cy="14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11700" y="2293900"/>
            <a:ext cx="17010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Droid Sans"/>
                <a:ea typeface="Droid Sans"/>
                <a:cs typeface="Droid Sans"/>
                <a:sym typeface="Droid Sans"/>
              </a:rPr>
              <a:t>Victor</a:t>
            </a:r>
            <a:endParaRPr sz="1800" b="1">
              <a:solidFill>
                <a:schemeClr val="dk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Droid Sans"/>
                <a:ea typeface="Droid Sans"/>
                <a:cs typeface="Droid Sans"/>
                <a:sym typeface="Droid Sans"/>
              </a:rPr>
              <a:t>Keywords</a:t>
            </a:r>
            <a:endParaRPr sz="1800">
              <a:solidFill>
                <a:schemeClr val="dk2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Ageing, demography</a:t>
            </a:r>
            <a:endParaRPr sz="1800"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Droid Sans"/>
                <a:ea typeface="Droid Sans"/>
                <a:cs typeface="Droid Sans"/>
                <a:sym typeface="Droid Sans"/>
              </a:rPr>
              <a:t>Languages</a:t>
            </a:r>
            <a:endParaRPr sz="1800">
              <a:solidFill>
                <a:schemeClr val="dk2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R</a:t>
            </a:r>
            <a:endParaRPr sz="1800"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Droid Sans"/>
                <a:ea typeface="Droid Sans"/>
                <a:cs typeface="Droid Sans"/>
                <a:sym typeface="Droid Sans"/>
              </a:rPr>
              <a:t>OS</a:t>
            </a:r>
            <a:endParaRPr sz="1800">
              <a:solidFill>
                <a:schemeClr val="dk2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Windows</a:t>
            </a:r>
            <a:endParaRPr sz="1800"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388175" y="2293900"/>
            <a:ext cx="17676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Droid Sans"/>
                <a:ea typeface="Droid Sans"/>
                <a:cs typeface="Droid Sans"/>
                <a:sym typeface="Droid Sans"/>
              </a:rPr>
              <a:t>Tom</a:t>
            </a:r>
            <a:endParaRPr sz="1800" b="1">
              <a:solidFill>
                <a:schemeClr val="dk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Droid Sans"/>
                <a:ea typeface="Droid Sans"/>
                <a:cs typeface="Droid Sans"/>
                <a:sym typeface="Droid Sans"/>
              </a:rPr>
              <a:t>Keywords</a:t>
            </a:r>
            <a:endParaRPr sz="1800">
              <a:solidFill>
                <a:schemeClr val="dk2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Conflict, </a:t>
            </a:r>
            <a:endParaRPr sz="1800"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Sexual selection</a:t>
            </a:r>
            <a:endParaRPr sz="1700"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Droid Sans"/>
                <a:ea typeface="Droid Sans"/>
                <a:cs typeface="Droid Sans"/>
                <a:sym typeface="Droid Sans"/>
              </a:rPr>
              <a:t>Languages</a:t>
            </a:r>
            <a:endParaRPr sz="1800">
              <a:solidFill>
                <a:schemeClr val="dk2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R (tidyverse)</a:t>
            </a:r>
            <a:endParaRPr sz="1800"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Droid Sans"/>
                <a:ea typeface="Droid Sans"/>
                <a:cs typeface="Droid Sans"/>
                <a:sym typeface="Droid Sans"/>
              </a:rPr>
              <a:t>OS</a:t>
            </a:r>
            <a:endParaRPr sz="1800">
              <a:solidFill>
                <a:schemeClr val="dk2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Windows &amp; Mac</a:t>
            </a:r>
            <a:endParaRPr sz="1800"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258850" y="2293900"/>
            <a:ext cx="14847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Droid Sans"/>
                <a:ea typeface="Droid Sans"/>
                <a:cs typeface="Droid Sans"/>
                <a:sym typeface="Droid Sans"/>
              </a:rPr>
              <a:t>Roman</a:t>
            </a:r>
            <a:endParaRPr sz="1800" b="1">
              <a:solidFill>
                <a:schemeClr val="dk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Droid Sans"/>
                <a:ea typeface="Droid Sans"/>
                <a:cs typeface="Droid Sans"/>
                <a:sym typeface="Droid Sans"/>
              </a:rPr>
              <a:t>Keywords</a:t>
            </a:r>
            <a:endParaRPr sz="1800">
              <a:solidFill>
                <a:schemeClr val="dk2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Evo-devo, sex ratio</a:t>
            </a:r>
            <a:endParaRPr sz="1800"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Droid Sans"/>
                <a:ea typeface="Droid Sans"/>
                <a:cs typeface="Droid Sans"/>
                <a:sym typeface="Droid Sans"/>
              </a:rPr>
              <a:t>Languages</a:t>
            </a:r>
            <a:endParaRPr sz="1800">
              <a:solidFill>
                <a:schemeClr val="dk2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Matlab</a:t>
            </a:r>
            <a:endParaRPr sz="1800"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Droid Sans"/>
                <a:ea typeface="Droid Sans"/>
                <a:cs typeface="Droid Sans"/>
                <a:sym typeface="Droid Sans"/>
              </a:rPr>
              <a:t>OS</a:t>
            </a:r>
            <a:endParaRPr sz="1800">
              <a:solidFill>
                <a:schemeClr val="dk2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Windows &amp; Linux</a:t>
            </a:r>
            <a:endParaRPr sz="1800"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7533513" y="2293900"/>
            <a:ext cx="12861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Droid Sans"/>
                <a:ea typeface="Droid Sans"/>
                <a:cs typeface="Droid Sans"/>
                <a:sym typeface="Droid Sans"/>
              </a:rPr>
              <a:t>Margaux</a:t>
            </a:r>
            <a:endParaRPr sz="1800" b="1">
              <a:solidFill>
                <a:schemeClr val="dk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Droid Sans"/>
                <a:ea typeface="Droid Sans"/>
                <a:cs typeface="Droid Sans"/>
                <a:sym typeface="Droid Sans"/>
              </a:rPr>
              <a:t>Keywords</a:t>
            </a:r>
            <a:endParaRPr sz="1800">
              <a:solidFill>
                <a:schemeClr val="dk2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Ageing, cancer</a:t>
            </a:r>
            <a:endParaRPr sz="1800"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Droid Sans"/>
                <a:ea typeface="Droid Sans"/>
                <a:cs typeface="Droid Sans"/>
                <a:sym typeface="Droid Sans"/>
              </a:rPr>
              <a:t>Languages</a:t>
            </a:r>
            <a:endParaRPr sz="1800">
              <a:solidFill>
                <a:schemeClr val="dk2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R</a:t>
            </a:r>
            <a:endParaRPr sz="1800"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Droid Sans"/>
                <a:ea typeface="Droid Sans"/>
                <a:cs typeface="Droid Sans"/>
                <a:sym typeface="Droid Sans"/>
              </a:rPr>
              <a:t>OS</a:t>
            </a:r>
            <a:endParaRPr sz="1800">
              <a:solidFill>
                <a:schemeClr val="dk2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Linux</a:t>
            </a:r>
            <a:endParaRPr sz="1800"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D9EEB"/>
                </a:solidFill>
                <a:latin typeface="Droid Sans"/>
                <a:ea typeface="Droid Sans"/>
                <a:cs typeface="Droid Sans"/>
                <a:sym typeface="Droid Sans"/>
              </a:rPr>
              <a:t>(Windows)</a:t>
            </a:r>
            <a:endParaRPr sz="1000">
              <a:solidFill>
                <a:srgbClr val="6D9EEB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131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  <a:latin typeface="Droid Sans"/>
                <a:ea typeface="Droid Sans"/>
                <a:cs typeface="Droid Sans"/>
                <a:sym typeface="Droid Sans"/>
              </a:rPr>
              <a:t>Why this module?</a:t>
            </a:r>
            <a:endParaRPr>
              <a:solidFill>
                <a:srgbClr val="BF9000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311700" y="704225"/>
            <a:ext cx="8520600" cy="38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roid Sans"/>
              <a:buChar char="●"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Development of a “theoretical hub” in eco-evo at JGU 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Droid Sans"/>
              <a:buChar char="○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You might be interested in the </a:t>
            </a:r>
            <a:r>
              <a:rPr lang="en-GB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international MSc</a:t>
            </a: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 in Evolutionary Biology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u="sng">
                <a:solidFill>
                  <a:schemeClr val="hlink"/>
                </a:solidFill>
                <a:latin typeface="Droid Sans"/>
                <a:ea typeface="Droid Sans"/>
                <a:cs typeface="Droid Sans"/>
                <a:sym typeface="Droid Sans"/>
                <a:hlinkClick r:id="rId3"/>
              </a:rPr>
              <a:t>https://www.blogs.uni-mainz.de/fb10-biologie-eng/master-evolutionary-biology/</a:t>
            </a: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 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roid Sans"/>
              <a:buChar char="●"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A first taste of theory and theoretical modelling 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→ equations are </a:t>
            </a:r>
            <a:r>
              <a:rPr lang="en-GB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NOT</a:t>
            </a: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 scary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roid Sans"/>
              <a:buChar char="●"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Before your BSc thesis: a mock-up experience of a research project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131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  <a:latin typeface="Droid Sans"/>
                <a:ea typeface="Droid Sans"/>
                <a:cs typeface="Droid Sans"/>
                <a:sym typeface="Droid Sans"/>
              </a:rPr>
              <a:t>How?</a:t>
            </a:r>
            <a:endParaRPr>
              <a:solidFill>
                <a:srgbClr val="BF9000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704225"/>
            <a:ext cx="8520600" cy="38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Lectures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roid Sans"/>
              <a:buChar char="-"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Hot topics in theoretical eco-evo 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roid Sans"/>
              <a:buChar char="-"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How do we communicate science? 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“Learning by doing”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roid Sans"/>
              <a:buChar char="●"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Journal Club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roid Sans"/>
              <a:buChar char="●"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Workshops: 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roid Sans"/>
              <a:buChar char="○"/>
            </a:pPr>
            <a:r>
              <a:rPr lang="en-GB" sz="1400">
                <a:solidFill>
                  <a:schemeClr val="dk1"/>
                </a:solidFill>
                <a:latin typeface="Droid Sans"/>
                <a:ea typeface="Droid Sans"/>
                <a:cs typeface="Droid Sans"/>
                <a:sym typeface="Droid Sans"/>
              </a:rPr>
              <a:t>Scientific writing </a:t>
            </a:r>
            <a:endParaRPr sz="1400">
              <a:solidFill>
                <a:schemeClr val="dk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roid Sans"/>
              <a:buChar char="○"/>
            </a:pPr>
            <a:r>
              <a:rPr lang="en-GB" sz="1400">
                <a:solidFill>
                  <a:schemeClr val="dk1"/>
                </a:solidFill>
                <a:latin typeface="Droid Sans"/>
                <a:ea typeface="Droid Sans"/>
                <a:cs typeface="Droid Sans"/>
                <a:sym typeface="Droid Sans"/>
              </a:rPr>
              <a:t>Data analysis with R</a:t>
            </a:r>
            <a:endParaRPr sz="1400">
              <a:solidFill>
                <a:schemeClr val="dk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roid Sans"/>
              <a:buChar char="○"/>
            </a:pPr>
            <a:r>
              <a:rPr lang="en-GB" sz="1400">
                <a:solidFill>
                  <a:schemeClr val="dk1"/>
                </a:solidFill>
                <a:latin typeface="Droid Sans"/>
                <a:ea typeface="Droid Sans"/>
                <a:cs typeface="Droid Sans"/>
                <a:sym typeface="Droid Sans"/>
              </a:rPr>
              <a:t>Data simulation and modelling with R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405950" y="3632300"/>
            <a:ext cx="151500" cy="9819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4557450" y="1725650"/>
            <a:ext cx="4275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Overview of the publishing process </a:t>
            </a:r>
            <a:endParaRPr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429050" y="1702400"/>
            <a:ext cx="105300" cy="427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4557450" y="3932600"/>
            <a:ext cx="42750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Hands-on</a:t>
            </a:r>
            <a:r>
              <a:rPr lang="en-GB" sz="1800">
                <a:solidFill>
                  <a:schemeClr val="dk1"/>
                </a:solidFill>
                <a:latin typeface="Droid Sans"/>
                <a:ea typeface="Droid Sans"/>
                <a:cs typeface="Droid Sans"/>
                <a:sym typeface="Droid Sans"/>
              </a:rPr>
              <a:t> and </a:t>
            </a:r>
            <a:r>
              <a:rPr lang="en-GB" sz="18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project-based</a:t>
            </a:r>
            <a:r>
              <a:rPr lang="en-GB" sz="1800">
                <a:solidFill>
                  <a:schemeClr val="dk1"/>
                </a:solidFill>
                <a:latin typeface="Droid Sans"/>
                <a:ea typeface="Droid Sans"/>
                <a:cs typeface="Droid Sans"/>
                <a:sym typeface="Droid Sans"/>
              </a:rPr>
              <a:t> practical</a:t>
            </a:r>
            <a:endParaRPr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131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  <a:latin typeface="Droid Sans"/>
                <a:ea typeface="Droid Sans"/>
                <a:cs typeface="Droid Sans"/>
                <a:sym typeface="Droid Sans"/>
              </a:rPr>
              <a:t>Course outline: two phases </a:t>
            </a:r>
            <a:endParaRPr>
              <a:solidFill>
                <a:srgbClr val="BF9000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704225"/>
            <a:ext cx="8520600" cy="38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roid Sans"/>
              <a:buAutoNum type="arabicPeriod"/>
            </a:pPr>
            <a:r>
              <a:rPr lang="en-GB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Journal club</a:t>
            </a: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 - ⅓ of the module - </a:t>
            </a:r>
            <a:r>
              <a:rPr lang="en-GB">
                <a:solidFill>
                  <a:srgbClr val="990000"/>
                </a:solidFill>
                <a:latin typeface="Droid Sans"/>
                <a:ea typeface="Droid Sans"/>
                <a:cs typeface="Droid Sans"/>
                <a:sym typeface="Droid Sans"/>
              </a:rPr>
              <a:t>dates TBD</a:t>
            </a:r>
            <a:endParaRPr>
              <a:solidFill>
                <a:srgbClr val="99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Droid Sans"/>
              <a:buAutoNum type="alphaLcPeriod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Lectures: 8 hours on 4 different topics in ecology and evolution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13716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Droid Sans"/>
                <a:ea typeface="Droid Sans"/>
                <a:cs typeface="Droid Sans"/>
                <a:sym typeface="Droid Sans"/>
              </a:rPr>
              <a:t>Break: preparation of JC in groups</a:t>
            </a:r>
            <a:endParaRPr sz="1400"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Droid Sans"/>
              <a:buAutoNum type="alphaLcPeriod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Oral presentation and scientific discussion: 4 groups, 4 papers, 2 half-days (provisional)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131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  <a:latin typeface="Droid Sans"/>
                <a:ea typeface="Droid Sans"/>
                <a:cs typeface="Droid Sans"/>
                <a:sym typeface="Droid Sans"/>
              </a:rPr>
              <a:t>Course outline: two phases</a:t>
            </a: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311700" y="704225"/>
            <a:ext cx="8520600" cy="38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Droid Sans"/>
              <a:buAutoNum type="arabicPeriod"/>
            </a:pPr>
            <a:r>
              <a:rPr lang="en-GB">
                <a:solidFill>
                  <a:srgbClr val="B7B7B7"/>
                </a:solidFill>
                <a:latin typeface="Droid Sans"/>
                <a:ea typeface="Droid Sans"/>
                <a:cs typeface="Droid Sans"/>
                <a:sym typeface="Droid Sans"/>
              </a:rPr>
              <a:t>Journal club - ⅓ of the module - dates TBD</a:t>
            </a:r>
            <a:endParaRPr>
              <a:solidFill>
                <a:srgbClr val="B7B7B7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Droid Sans"/>
              <a:buAutoNum type="alphaLcPeriod"/>
            </a:pPr>
            <a:r>
              <a:rPr lang="en-GB">
                <a:solidFill>
                  <a:srgbClr val="B7B7B7"/>
                </a:solidFill>
                <a:latin typeface="Droid Sans"/>
                <a:ea typeface="Droid Sans"/>
                <a:cs typeface="Droid Sans"/>
                <a:sym typeface="Droid Sans"/>
              </a:rPr>
              <a:t>Lectures: 8 hours on 4 different topics in ecology and evolution </a:t>
            </a:r>
            <a:endParaRPr>
              <a:solidFill>
                <a:srgbClr val="B7B7B7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13716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B7B7B7"/>
                </a:solidFill>
                <a:latin typeface="Droid Sans"/>
                <a:ea typeface="Droid Sans"/>
                <a:cs typeface="Droid Sans"/>
                <a:sym typeface="Droid Sans"/>
              </a:rPr>
              <a:t>Break: preparation of JC in groups</a:t>
            </a:r>
            <a:endParaRPr sz="1400">
              <a:solidFill>
                <a:srgbClr val="B7B7B7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120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Droid Sans"/>
              <a:buAutoNum type="alphaLcPeriod"/>
            </a:pPr>
            <a:r>
              <a:rPr lang="en-GB">
                <a:solidFill>
                  <a:srgbClr val="B7B7B7"/>
                </a:solidFill>
                <a:latin typeface="Droid Sans"/>
                <a:ea typeface="Droid Sans"/>
                <a:cs typeface="Droid Sans"/>
                <a:sym typeface="Droid Sans"/>
              </a:rPr>
              <a:t>Oral presentation and scientific discussion: 4 groups, 4 papers, 2 half-days (previsional)</a:t>
            </a:r>
            <a:endParaRPr>
              <a:solidFill>
                <a:srgbClr val="B7B7B7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00">
              <a:solidFill>
                <a:srgbClr val="B7B7B7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roid Sans"/>
              <a:buAutoNum type="arabicPeriod"/>
            </a:pPr>
            <a:r>
              <a:rPr lang="en-GB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Research project</a:t>
            </a: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 - ⅔ of the module - calendar on Jogustine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Droid Sans"/>
              <a:buAutoNum type="alphaLcPeriod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Workshops “literature review” and “scientific writing”: 8 hours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Droid Sans"/>
              <a:buAutoNum type="alphaLcPeriod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Workshops “R for data wrangling” and “R for data simulations”: 16 hours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Droid Sans"/>
              <a:buAutoNum type="alphaLcPeriod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Hands-on part, in group: 22.08, 23.08, 02.09-13.09</a:t>
            </a:r>
            <a:endParaRPr>
              <a:solidFill>
                <a:srgbClr val="99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NB: hands-on part attendance is mandatory </a:t>
            </a:r>
            <a:r>
              <a:rPr lang="en-GB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to some extent</a:t>
            </a:r>
            <a:endParaRPr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131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  <a:latin typeface="Droid Sans"/>
                <a:ea typeface="Droid Sans"/>
                <a:cs typeface="Droid Sans"/>
                <a:sym typeface="Droid Sans"/>
              </a:rPr>
              <a:t>Course outline: two phases</a:t>
            </a: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311700" y="704225"/>
            <a:ext cx="8520600" cy="38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Font typeface="Droid Sans"/>
              <a:buAutoNum type="arabicPeriod"/>
            </a:pPr>
            <a:r>
              <a:rPr lang="en-GB">
                <a:solidFill>
                  <a:srgbClr val="B7B7B7"/>
                </a:solidFill>
                <a:latin typeface="Droid Sans"/>
                <a:ea typeface="Droid Sans"/>
                <a:cs typeface="Droid Sans"/>
                <a:sym typeface="Droid Sans"/>
              </a:rPr>
              <a:t>Journal club - ⅓ of the module - dates TBD</a:t>
            </a:r>
            <a:endParaRPr>
              <a:solidFill>
                <a:srgbClr val="B7B7B7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Droid Sans"/>
              <a:buAutoNum type="alphaLcPeriod"/>
            </a:pPr>
            <a:r>
              <a:rPr lang="en-GB">
                <a:solidFill>
                  <a:srgbClr val="B7B7B7"/>
                </a:solidFill>
                <a:latin typeface="Droid Sans"/>
                <a:ea typeface="Droid Sans"/>
                <a:cs typeface="Droid Sans"/>
                <a:sym typeface="Droid Sans"/>
              </a:rPr>
              <a:t>Lectures: 8 hours on 4 different topics in ecology and evolution </a:t>
            </a:r>
            <a:endParaRPr>
              <a:solidFill>
                <a:srgbClr val="B7B7B7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13716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B7B7B7"/>
                </a:solidFill>
                <a:latin typeface="Droid Sans"/>
                <a:ea typeface="Droid Sans"/>
                <a:cs typeface="Droid Sans"/>
                <a:sym typeface="Droid Sans"/>
              </a:rPr>
              <a:t>Break: preparation of JC in groups</a:t>
            </a:r>
            <a:endParaRPr sz="1400">
              <a:solidFill>
                <a:srgbClr val="B7B7B7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1200"/>
              </a:spcBef>
              <a:spcAft>
                <a:spcPts val="0"/>
              </a:spcAft>
              <a:buClr>
                <a:srgbClr val="B7B7B7"/>
              </a:buClr>
              <a:buSzPts val="1400"/>
              <a:buFont typeface="Droid Sans"/>
              <a:buAutoNum type="alphaLcPeriod"/>
            </a:pPr>
            <a:r>
              <a:rPr lang="en-GB">
                <a:solidFill>
                  <a:srgbClr val="B7B7B7"/>
                </a:solidFill>
                <a:latin typeface="Droid Sans"/>
                <a:ea typeface="Droid Sans"/>
                <a:cs typeface="Droid Sans"/>
                <a:sym typeface="Droid Sans"/>
              </a:rPr>
              <a:t>Oral presentation and scientific discussion: 4 groups, 4 papers, 2 half-days (previsional)</a:t>
            </a:r>
            <a:endParaRPr>
              <a:solidFill>
                <a:srgbClr val="B7B7B7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00">
              <a:solidFill>
                <a:srgbClr val="B7B7B7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roid Sans"/>
              <a:buAutoNum type="arabicPeriod"/>
            </a:pPr>
            <a:r>
              <a:rPr lang="en-GB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Research project</a:t>
            </a: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 - ⅔ of the module - calendar on Jogustine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Droid Sans"/>
              <a:buAutoNum type="alphaLcPeriod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Workshops “literature review” and “scientific writing”: 8 hours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Droid Sans"/>
              <a:buAutoNum type="alphaLcPeriod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Workshops “R for data exploration” and “R for data simulations”: 16 hours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Droid Sans"/>
              <a:buAutoNum type="alphaLcPeriod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Hands-on part, in group: 22.08, 23.08, 02.09-13.09</a:t>
            </a:r>
            <a:endParaRPr>
              <a:solidFill>
                <a:srgbClr val="99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NB: hands-on part attendance is mandatory </a:t>
            </a:r>
            <a:r>
              <a:rPr lang="en-GB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to some extent</a:t>
            </a:r>
            <a:endParaRPr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990000"/>
                </a:solidFill>
                <a:latin typeface="Droid Sans"/>
                <a:ea typeface="Droid Sans"/>
                <a:cs typeface="Droid Sans"/>
                <a:sym typeface="Droid Sans"/>
              </a:rPr>
              <a:t>⇒ Who is taking the bioinfo course from 02.09 to 13.09?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131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  <a:latin typeface="Droid Sans"/>
                <a:ea typeface="Droid Sans"/>
                <a:cs typeface="Droid Sans"/>
                <a:sym typeface="Droid Sans"/>
              </a:rPr>
              <a:t>Journal club: deliverables</a:t>
            </a: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 </a:t>
            </a:r>
            <a:r>
              <a:rPr lang="en-GB" sz="1200">
                <a:solidFill>
                  <a:srgbClr val="BF9000"/>
                </a:solidFill>
                <a:latin typeface="Droid Sans"/>
                <a:ea typeface="Droid Sans"/>
                <a:cs typeface="Droid Sans"/>
                <a:sym typeface="Droid Sans"/>
              </a:rPr>
              <a:t>(i.e what is graded)</a:t>
            </a:r>
            <a:endParaRPr sz="1200">
              <a:solidFill>
                <a:srgbClr val="BF9000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11700" y="704225"/>
            <a:ext cx="8520600" cy="38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roid Sans"/>
              <a:buAutoNum type="arabicPeriod"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Oral </a:t>
            </a:r>
            <a:r>
              <a:rPr lang="en-GB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presentation</a:t>
            </a: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 (in groups) of a scientific paper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30 minutes presentation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You can choose to present all or part of your paper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Use what we show during the thematic lectures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Droid Sans"/>
              <a:buAutoNum type="arabicPeriod"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Steering a scientific </a:t>
            </a:r>
            <a:r>
              <a:rPr lang="en-GB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discussion</a:t>
            </a:r>
            <a:endParaRPr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One group in charge of asking questions to presenters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⇒ Each group reads 2 papers</a:t>
            </a:r>
            <a:endParaRPr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311700" y="131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  <a:latin typeface="Droid Sans"/>
                <a:ea typeface="Droid Sans"/>
                <a:cs typeface="Droid Sans"/>
                <a:sym typeface="Droid Sans"/>
              </a:rPr>
              <a:t>Project: deliverable </a:t>
            </a:r>
            <a:endParaRPr>
              <a:solidFill>
                <a:srgbClr val="BF9000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19" name="Google Shape;119;p22"/>
          <p:cNvSpPr txBox="1">
            <a:spLocks noGrp="1"/>
          </p:cNvSpPr>
          <p:nvPr>
            <p:ph type="body" idx="1"/>
          </p:nvPr>
        </p:nvSpPr>
        <p:spPr>
          <a:xfrm>
            <a:off x="311700" y="704225"/>
            <a:ext cx="8520600" cy="38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roid Sans"/>
                <a:ea typeface="Droid Sans"/>
                <a:cs typeface="Droid Sans"/>
                <a:sym typeface="Droid Sans"/>
              </a:rPr>
              <a:t>Report in the form of a scientific paper </a:t>
            </a:r>
            <a:endParaRPr>
              <a:solidFill>
                <a:schemeClr val="dk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Abstract (150 words)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Introduction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Material and method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Results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Discussion and conclusion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A reference list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Your goal: </a:t>
            </a:r>
            <a:r>
              <a:rPr lang="en-GB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concision</a:t>
            </a:r>
            <a:endParaRPr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20" name="Google Shape;120;p22"/>
          <p:cNvSpPr/>
          <p:nvPr/>
        </p:nvSpPr>
        <p:spPr>
          <a:xfrm>
            <a:off x="4105300" y="1189400"/>
            <a:ext cx="151500" cy="2056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2"/>
          <p:cNvSpPr txBox="1"/>
          <p:nvPr/>
        </p:nvSpPr>
        <p:spPr>
          <a:xfrm>
            <a:off x="4310475" y="2027000"/>
            <a:ext cx="4521900" cy="3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800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Graded by your tutor + another one of us</a:t>
            </a:r>
            <a:endParaRPr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311700" y="131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  <a:latin typeface="Droid Sans"/>
                <a:ea typeface="Droid Sans"/>
                <a:cs typeface="Droid Sans"/>
                <a:sym typeface="Droid Sans"/>
              </a:rPr>
              <a:t>Resources</a:t>
            </a:r>
            <a:endParaRPr>
              <a:solidFill>
                <a:srgbClr val="BF9000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1"/>
          </p:nvPr>
        </p:nvSpPr>
        <p:spPr>
          <a:xfrm>
            <a:off x="311700" y="704225"/>
            <a:ext cx="8520600" cy="38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Droid Sans"/>
                <a:ea typeface="Droid Sans"/>
                <a:cs typeface="Droid Sans"/>
                <a:sym typeface="Droid Sans"/>
              </a:rPr>
              <a:t>On the </a:t>
            </a:r>
            <a:r>
              <a:rPr lang="en-GB" u="sng">
                <a:solidFill>
                  <a:schemeClr val="hlink"/>
                </a:solidFill>
                <a:latin typeface="Droid Sans"/>
                <a:ea typeface="Droid Sans"/>
                <a:cs typeface="Droid Sans"/>
                <a:sym typeface="Droid Sans"/>
                <a:hlinkClick r:id="rId3"/>
              </a:rPr>
              <a:t>moodle</a:t>
            </a:r>
            <a:endParaRPr>
              <a:solidFill>
                <a:schemeClr val="dk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roid Sans"/>
              <a:buChar char="-"/>
            </a:pPr>
            <a:r>
              <a:rPr lang="en-GB">
                <a:solidFill>
                  <a:schemeClr val="dk1"/>
                </a:solidFill>
                <a:latin typeface="Droid Sans"/>
                <a:ea typeface="Droid Sans"/>
                <a:cs typeface="Droid Sans"/>
                <a:sym typeface="Droid Sans"/>
              </a:rPr>
              <a:t>Course </a:t>
            </a:r>
            <a:r>
              <a:rPr lang="en-GB">
                <a:solidFill>
                  <a:srgbClr val="1155CC"/>
                </a:solidFill>
                <a:latin typeface="Droid Sans"/>
                <a:ea typeface="Droid Sans"/>
                <a:cs typeface="Droid Sans"/>
                <a:sym typeface="Droid Sans"/>
              </a:rPr>
              <a:t>syllabus</a:t>
            </a:r>
            <a:endParaRPr>
              <a:solidFill>
                <a:srgbClr val="1155CC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Information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Learning objectives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Course outline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Deliverables guidelines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roid Sans"/>
              <a:buChar char="-"/>
            </a:pPr>
            <a:r>
              <a:rPr lang="en-GB">
                <a:solidFill>
                  <a:schemeClr val="dk1"/>
                </a:solidFill>
                <a:latin typeface="Droid Sans"/>
                <a:ea typeface="Droid Sans"/>
                <a:cs typeface="Droid Sans"/>
                <a:sym typeface="Droid Sans"/>
              </a:rPr>
              <a:t>Papers on modelling</a:t>
            </a:r>
            <a:endParaRPr>
              <a:solidFill>
                <a:schemeClr val="dk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roid Sans"/>
              <a:buChar char="-"/>
            </a:pPr>
            <a:r>
              <a:rPr lang="en-GB">
                <a:solidFill>
                  <a:schemeClr val="dk1"/>
                </a:solidFill>
                <a:latin typeface="Droid Sans"/>
                <a:ea typeface="Droid Sans"/>
                <a:cs typeface="Droid Sans"/>
                <a:sym typeface="Droid Sans"/>
              </a:rPr>
              <a:t>Lectures and workshop slides</a:t>
            </a:r>
            <a:endParaRPr>
              <a:solidFill>
                <a:schemeClr val="dk1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roid Sans"/>
              <a:buChar char="-"/>
            </a:pPr>
            <a:r>
              <a:rPr lang="en-GB">
                <a:solidFill>
                  <a:schemeClr val="dk1"/>
                </a:solidFill>
                <a:latin typeface="Droid Sans"/>
                <a:ea typeface="Droid Sans"/>
                <a:cs typeface="Droid Sans"/>
                <a:sym typeface="Droid Sans"/>
              </a:rPr>
              <a:t>(Additional resources)</a:t>
            </a:r>
            <a:endParaRPr>
              <a:solidFill>
                <a:schemeClr val="dk1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37615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BF9000"/>
                </a:solidFill>
                <a:latin typeface="Droid Sans"/>
                <a:ea typeface="Droid Sans"/>
                <a:cs typeface="Droid Sans"/>
                <a:sym typeface="Droid Sans"/>
              </a:rPr>
              <a:t>Questions?</a:t>
            </a:r>
            <a:endParaRPr sz="3600">
              <a:solidFill>
                <a:srgbClr val="BF9000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131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  <a:latin typeface="Droid Sans"/>
                <a:ea typeface="Droid Sans"/>
                <a:cs typeface="Droid Sans"/>
                <a:sym typeface="Droid Sans"/>
              </a:rPr>
              <a:t>Previous experience with programming </a:t>
            </a:r>
            <a:endParaRPr>
              <a:solidFill>
                <a:srgbClr val="BF9000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>
            <a:off x="311700" y="704225"/>
            <a:ext cx="8520600" cy="38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Please answer the survey below : 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View </a:t>
            </a:r>
            <a:r>
              <a:rPr lang="en-GB" u="sng">
                <a:solidFill>
                  <a:schemeClr val="hlink"/>
                </a:solidFill>
                <a:latin typeface="Droid Sans"/>
                <a:ea typeface="Droid Sans"/>
                <a:cs typeface="Droid Sans"/>
                <a:sym typeface="Droid Sans"/>
                <a:hlinkClick r:id="rId3"/>
              </a:rPr>
              <a:t>https://docs.google.com/forms/d/e/1FAIpQLScyIXzeqH0IhyS1j1XzoguxFOBoO1-3Bh1KHpLOEUUBeB6dwQ/viewform</a:t>
            </a: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Edit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u="sng">
                <a:solidFill>
                  <a:schemeClr val="hlink"/>
                </a:solidFill>
                <a:latin typeface="Droid Sans"/>
                <a:ea typeface="Droid Sans"/>
                <a:cs typeface="Droid Sans"/>
                <a:sym typeface="Droid Sans"/>
                <a:hlinkClick r:id="rId4"/>
              </a:rPr>
              <a:t>https://docs.google.com/forms/d/e/1FAIpQLScyIXzeqH0IhyS1j1XzoguxFOBoO1-3Bh1KHpLOEUUBeB6dwQ/viewform?usp=sharing</a:t>
            </a: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311700" y="131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  <a:latin typeface="Droid Sans"/>
                <a:ea typeface="Droid Sans"/>
                <a:cs typeface="Droid Sans"/>
                <a:sym typeface="Droid Sans"/>
              </a:rPr>
              <a:t>Find dates</a:t>
            </a:r>
            <a:endParaRPr>
              <a:solidFill>
                <a:srgbClr val="BF9000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44" name="Google Shape;144;p26"/>
          <p:cNvSpPr txBox="1">
            <a:spLocks noGrp="1"/>
          </p:cNvSpPr>
          <p:nvPr>
            <p:ph type="body" idx="1"/>
          </p:nvPr>
        </p:nvSpPr>
        <p:spPr>
          <a:xfrm>
            <a:off x="311700" y="704225"/>
            <a:ext cx="8520600" cy="38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5 half- days 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2 for our lectures (i.e on topics related to JC papers) - 2x4h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2 for your time to shine (i.e JC presentations) - 2x4h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1 to create project groups (you can re-shuffle groups and topic) + discuss potential research subjects with your tutor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Fill the When2meet :D 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u="sng">
                <a:solidFill>
                  <a:schemeClr val="hlink"/>
                </a:solidFill>
                <a:latin typeface="Droid Sans"/>
                <a:ea typeface="Droid Sans"/>
                <a:cs typeface="Droid Sans"/>
                <a:sym typeface="Droid Sans"/>
                <a:hlinkClick r:id="rId3"/>
              </a:rPr>
              <a:t>https://www.when2meet.com/?25006472-lPifm</a:t>
            </a: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 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>
            <a:spLocks noGrp="1"/>
          </p:cNvSpPr>
          <p:nvPr>
            <p:ph type="title"/>
          </p:nvPr>
        </p:nvSpPr>
        <p:spPr>
          <a:xfrm>
            <a:off x="311700" y="131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  <a:latin typeface="Droid Sans"/>
                <a:ea typeface="Droid Sans"/>
                <a:cs typeface="Droid Sans"/>
                <a:sym typeface="Droid Sans"/>
              </a:rPr>
              <a:t>Last logistic points: choose your abstract ! </a:t>
            </a:r>
            <a:endParaRPr>
              <a:solidFill>
                <a:srgbClr val="BF9000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body" idx="1"/>
          </p:nvPr>
        </p:nvSpPr>
        <p:spPr>
          <a:xfrm>
            <a:off x="311700" y="704225"/>
            <a:ext cx="8520600" cy="386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Please read the four abstracts  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2 for our lectures (i.e on topics related to JC papers) - 2x4h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2 for your time to shine (i.e JC presentations) - 2x4h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-"/>
            </a:pPr>
            <a:r>
              <a:rPr lang="en-GB">
                <a:latin typeface="Droid Sans"/>
                <a:ea typeface="Droid Sans"/>
                <a:cs typeface="Droid Sans"/>
                <a:sym typeface="Droid Sans"/>
              </a:rPr>
              <a:t>1 to create project groups (you can re-shuffle groups and topic) + discuss potential research subjects with your tutor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Droid Sans"/>
                <a:ea typeface="Droid Sans"/>
                <a:cs typeface="Droid Sans"/>
                <a:sym typeface="Droid Sans"/>
              </a:rPr>
              <a:t>And write your names + ranking under each in this document: </a:t>
            </a:r>
            <a:endParaRPr>
              <a:solidFill>
                <a:srgbClr val="000000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400" u="sng">
                <a:solidFill>
                  <a:schemeClr val="hlink"/>
                </a:solidFill>
                <a:latin typeface="Droid Sans"/>
                <a:ea typeface="Droid Sans"/>
                <a:cs typeface="Droid Sans"/>
                <a:sym typeface="Droid Sans"/>
                <a:hlinkClick r:id="rId3"/>
              </a:rPr>
              <a:t>Link</a:t>
            </a:r>
            <a:endParaRPr sz="2400"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820</Words>
  <Application>Microsoft Office PowerPoint</Application>
  <PresentationFormat>On-screen Show (16:9)</PresentationFormat>
  <Paragraphs>131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Droid Sans</vt:lpstr>
      <vt:lpstr>Arial</vt:lpstr>
      <vt:lpstr>Simple Light</vt:lpstr>
      <vt:lpstr>Introductory session: Theoretical modelling in ecology and evolution</vt:lpstr>
      <vt:lpstr>Your instructors </vt:lpstr>
      <vt:lpstr>Why this module?</vt:lpstr>
      <vt:lpstr>How?</vt:lpstr>
      <vt:lpstr>Course outline: two phases </vt:lpstr>
      <vt:lpstr>Course outline: two phases </vt:lpstr>
      <vt:lpstr>Course outline: two phases </vt:lpstr>
      <vt:lpstr>Journal club: deliverables (i.e what is graded)</vt:lpstr>
      <vt:lpstr>Project: deliverable </vt:lpstr>
      <vt:lpstr>Resources</vt:lpstr>
      <vt:lpstr>Questions?</vt:lpstr>
      <vt:lpstr>Previous experience with programming </vt:lpstr>
      <vt:lpstr>Find dates</vt:lpstr>
      <vt:lpstr>Last logistic points: choose your abstract 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Introductory session: Theoretical modelling in ecology and evolution</dc:title>
  <dc:creator>pcadmin</dc:creator>
  <cp:lastModifiedBy>Keaney, Thomas Anthony</cp:lastModifiedBy>
  <cp:revision>1</cp:revision>
  <dcterms:modified xsi:type="dcterms:W3CDTF">2024-05-21T06:54:26Z</dcterms:modified>
</cp:coreProperties>
</file>